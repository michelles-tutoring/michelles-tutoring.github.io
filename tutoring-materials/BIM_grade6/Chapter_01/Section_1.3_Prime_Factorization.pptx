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e9da48a1ae41a5" /><Relationship Type="http://schemas.openxmlformats.org/officeDocument/2006/relationships/extended-properties" Target="/docProps/app.xml" Id="Rd51189753d7b4e04" /><Relationship Type="http://schemas.openxmlformats.org/officeDocument/2006/relationships/officeDocument" Target="/ppt/presentation.xml" Id="Rda3cb78e49d343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1719cd6ef14b55"/>
  </p:sldMasterIdLst>
  <p:notesMasterIdLst>
    <p:notesMasterId xmlns:r="http://schemas.openxmlformats.org/officeDocument/2006/relationships" r:id="Rcdcf1c1250a24416"/>
  </p:notesMasterIdLst>
  <p:sldIdLst>
    <p:sldId xmlns:r="http://schemas.openxmlformats.org/officeDocument/2006/relationships" id="256" r:id="Rb44174ca44514994"/>
    <p:sldId xmlns:r="http://schemas.openxmlformats.org/officeDocument/2006/relationships" id="257" r:id="R0225210172484042"/>
    <p:sldId xmlns:r="http://schemas.openxmlformats.org/officeDocument/2006/relationships" id="258" r:id="R9a7a7cb3322e482b"/>
    <p:sldId xmlns:r="http://schemas.openxmlformats.org/officeDocument/2006/relationships" id="259" r:id="Rce2429a2715e4878"/>
    <p:sldId xmlns:r="http://schemas.openxmlformats.org/officeDocument/2006/relationships" id="260" r:id="Redb327511c23415c"/>
    <p:sldId xmlns:r="http://schemas.openxmlformats.org/officeDocument/2006/relationships" id="261" r:id="R488eac13cbb148b3"/>
    <p:sldId xmlns:r="http://schemas.openxmlformats.org/officeDocument/2006/relationships" id="262" r:id="Rc311740ae9254943"/>
    <p:sldId xmlns:r="http://schemas.openxmlformats.org/officeDocument/2006/relationships" id="263" r:id="R064f9bb8e7fb427f"/>
    <p:sldId xmlns:r="http://schemas.openxmlformats.org/officeDocument/2006/relationships" id="264" r:id="R8c507ae2710e4c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de49be84f94c1c" /><Relationship Type="http://schemas.openxmlformats.org/officeDocument/2006/relationships/slideMaster" Target="/ppt/slideMasters/slideMaster1.xml" Id="R4e1719cd6ef14b55" /><Relationship Type="http://schemas.openxmlformats.org/officeDocument/2006/relationships/notesMaster" Target="/ppt/notesMasters/notesMaster1.xml" Id="Rcdcf1c1250a24416" /><Relationship Type="http://schemas.openxmlformats.org/officeDocument/2006/relationships/presProps" Target="/ppt/presProps.xml" Id="R3823a3006a034465" /><Relationship Type="http://schemas.openxmlformats.org/officeDocument/2006/relationships/tableStyles" Target="/ppt/tableStyles.xml" Id="R4b9501768a814c26" /><Relationship Type="http://schemas.openxmlformats.org/officeDocument/2006/relationships/slide" Target="/ppt/slides/slide1.xml" Id="Rb44174ca44514994" /><Relationship Type="http://schemas.openxmlformats.org/officeDocument/2006/relationships/slide" Target="/ppt/slides/slide2.xml" Id="R0225210172484042" /><Relationship Type="http://schemas.openxmlformats.org/officeDocument/2006/relationships/slide" Target="/ppt/slides/slide3.xml" Id="R9a7a7cb3322e482b" /><Relationship Type="http://schemas.openxmlformats.org/officeDocument/2006/relationships/slide" Target="/ppt/slides/slide4.xml" Id="Rce2429a2715e4878" /><Relationship Type="http://schemas.openxmlformats.org/officeDocument/2006/relationships/slide" Target="/ppt/slides/slide5.xml" Id="Redb327511c23415c" /><Relationship Type="http://schemas.openxmlformats.org/officeDocument/2006/relationships/slide" Target="/ppt/slides/slide6.xml" Id="R488eac13cbb148b3" /><Relationship Type="http://schemas.openxmlformats.org/officeDocument/2006/relationships/slide" Target="/ppt/slides/slide7.xml" Id="Rc311740ae9254943" /><Relationship Type="http://schemas.openxmlformats.org/officeDocument/2006/relationships/slide" Target="/ppt/slides/slide8.xml" Id="R064f9bb8e7fb427f" /><Relationship Type="http://schemas.openxmlformats.org/officeDocument/2006/relationships/slide" Target="/ppt/slides/slide9.xml" Id="R8c507ae2710e4c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6121125fac41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4507eff87e465f" /><Relationship Type="http://schemas.openxmlformats.org/officeDocument/2006/relationships/notesMaster" Target="/ppt/notesMasters/notesMaster1.xml" Id="Ra62ada52e52742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4eb92bfe2142f9" /><Relationship Type="http://schemas.openxmlformats.org/officeDocument/2006/relationships/notesMaster" Target="/ppt/notesMasters/notesMaster1.xml" Id="R8c22e6e69eec41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6d405e2d3842b2" /><Relationship Type="http://schemas.openxmlformats.org/officeDocument/2006/relationships/notesMaster" Target="/ppt/notesMasters/notesMaster1.xml" Id="Ref3c52d8d3b24b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c7d4214fbd47b3" /><Relationship Type="http://schemas.openxmlformats.org/officeDocument/2006/relationships/notesMaster" Target="/ppt/notesMasters/notesMaster1.xml" Id="R34f9330f3d7a48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b17aae599c4f23" /><Relationship Type="http://schemas.openxmlformats.org/officeDocument/2006/relationships/notesMaster" Target="/ppt/notesMasters/notesMaster1.xml" Id="Ra1ae95c9ff7046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bdc370cebd4561" /><Relationship Type="http://schemas.openxmlformats.org/officeDocument/2006/relationships/notesMaster" Target="/ppt/notesMasters/notesMaster1.xml" Id="R195e5dc8aaca41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62b4d4626d41ff" /><Relationship Type="http://schemas.openxmlformats.org/officeDocument/2006/relationships/notesMaster" Target="/ppt/notesMasters/notesMaster1.xml" Id="Ra5a2d7f93a8247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bfd2bb67e04978" /><Relationship Type="http://schemas.openxmlformats.org/officeDocument/2006/relationships/notesMaster" Target="/ppt/notesMasters/notesMaster1.xml" Id="Rd4d971c6c4bd45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1fae5c7e4bb499b" /><Relationship Type="http://schemas.openxmlformats.org/officeDocument/2006/relationships/notesMaster" Target="/ppt/notesMasters/notesMaster1.xml" Id="R37b793d6a3d04b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goal and ask what the student already remembers about this topic.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Big Ideas Math: Modeling Real Life, Common Core 2019, Grade 6, Chapter 1.</a:t>
            </a:r>
          </a:p>
          <a:p xmlns:a="http://schemas.openxmlformats.org/drawingml/2006/main">
            <a:r>
              <a:t>- https://www.sau19.org/attachments/article/288/Big%20Ideas%20Math%206-Algebra%20Scope%20and%20Sequence.pdf</a:t>
            </a:r>
          </a:p>
          <a:p xmlns:a="http://schemas.openxmlformats.org/drawingml/2006/main">
            <a:r>
              <a:t>- https://www.ixl.com/math/skill-plans/big-ideas-math-2019-common-core-curriculum-6th-grade.pdf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low-pressure diagnostic. Do not teach first; note vocabulary, fluency, and strategy 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Big Ideas Math: Modeling Real Life, Common Core 2019, Grade 6, Chapter 1.</a:t>
            </a:r>
          </a:p>
          <a:p xmlns:a="http://schemas.openxmlformats.org/drawingml/2006/main">
            <a:r>
              <a:t>- https://www.sau19.org/attachments/article/288/Big%20Ideas%20Math%206-Algebra%20Scope%20and%20Sequence.pdf</a:t>
            </a:r>
          </a:p>
          <a:p xmlns:a="http://schemas.openxmlformats.org/drawingml/2006/main">
            <a:r>
              <a:t>- https://www.ixl.com/math/skill-plans/big-ideas-math-2019-common-core-curriculum-6th-grade.pdf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the student to compare the two sides and explain the important distinction in her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Big Ideas Math: Modeling Real Life, Common Core 2019, Grade 6, Chapter 1.</a:t>
            </a:r>
          </a:p>
          <a:p xmlns:a="http://schemas.openxmlformats.org/drawingml/2006/main">
            <a:r>
              <a:t>- https://www.sau19.org/attachments/article/288/Big%20Ideas%20Math%206-Algebra%20Scope%20and%20Sequence.pdf</a:t>
            </a:r>
          </a:p>
          <a:p xmlns:a="http://schemas.openxmlformats.org/drawingml/2006/main">
            <a:r>
              <a:t>- https://www.ixl.com/math/skill-plans/big-ideas-math-2019-common-core-curriculum-6th-grade.pdf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first step, then have the student narrate the remaining steps. Emphasize reasoning over memorizing a phrase.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Big Ideas Math: Modeling Real Life, Common Core 2019, Grade 6, Chapter 1.</a:t>
            </a:r>
          </a:p>
          <a:p xmlns:a="http://schemas.openxmlformats.org/drawingml/2006/main">
            <a:r>
              <a:t>- https://www.sau19.org/attachments/article/288/Big%20Ideas%20Math%206-Algebra%20Scope%20and%20Sequence.pdf</a:t>
            </a:r>
          </a:p>
          <a:p xmlns:a="http://schemas.openxmlformats.org/drawingml/2006/main">
            <a:r>
              <a:t>- https://www.ixl.com/math/skill-plans/big-ideas-math-2019-common-core-curriculum-6th-grade.pdf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Answers: A 2³×3; B 2²×3²; C 3²×5; D 2³×3². Different factor trees should reach the same prime factorization.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Big Ideas Math: Modeling Real Life, Common Core 2019, Grade 6, Chapter 1.</a:t>
            </a:r>
          </a:p>
          <a:p xmlns:a="http://schemas.openxmlformats.org/drawingml/2006/main">
            <a:r>
              <a:t>- https://www.sau19.org/attachments/article/288/Big%20Ideas%20Math%206-Algebra%20Scope%20and%20Sequence.pdf</a:t>
            </a:r>
          </a:p>
          <a:p xmlns:a="http://schemas.openxmlformats.org/drawingml/2006/main">
            <a:r>
              <a:t>- https://www.ixl.com/math/skill-plans/big-ideas-math-2019-common-core-curriculum-6th-grade.pdf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corrections: 12=2²×3 because 4 is composite; 30=2×3×5 and 1 is not prime.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Big Ideas Math: Modeling Real Life, Common Core 2019, Grade 6, Chapter 1.</a:t>
            </a:r>
          </a:p>
          <a:p xmlns:a="http://schemas.openxmlformats.org/drawingml/2006/main">
            <a:r>
              <a:t>- https://www.sau19.org/attachments/article/288/Big%20Ideas%20Math%206-Algebra%20Scope%20and%20Sequence.pdf</a:t>
            </a:r>
          </a:p>
          <a:p xmlns:a="http://schemas.openxmlformats.org/drawingml/2006/main">
            <a:r>
              <a:t>- https://www.ixl.com/math/skill-plans/big-ideas-math-2019-common-core-curriculum-6th-grade.pdf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Accept any mathematically valid reasoning. Ask a follow-up question if the student gives only an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Big Ideas Math: Modeling Real Life, Common Core 2019, Grade 6, Chapter 1.</a:t>
            </a:r>
          </a:p>
          <a:p xmlns:a="http://schemas.openxmlformats.org/drawingml/2006/main">
            <a:r>
              <a:t>- https://www.sau19.org/attachments/article/288/Big%20Ideas%20Math%206-Algebra%20Scope%20and%20Sequence.pdf</a:t>
            </a:r>
          </a:p>
          <a:p xmlns:a="http://schemas.openxmlformats.org/drawingml/2006/main">
            <a:r>
              <a:t>- https://www.ixl.com/math/skill-plans/big-ideas-math-2019-common-core-curriculum-6th-grade.pdf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5 minutes independently. Answers: prime; 2²×5; 2×3³; prime factorization contains only prime factors.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Big Ideas Math: Modeling Real Life, Common Core 2019, Grade 6, Chapter 1.</a:t>
            </a:r>
          </a:p>
          <a:p xmlns:a="http://schemas.openxmlformats.org/drawingml/2006/main">
            <a:r>
              <a:t>- https://www.sau19.org/attachments/article/288/Big%20Ideas%20Math%206-Algebra%20Scope%20and%20Sequence.pdf</a:t>
            </a:r>
          </a:p>
          <a:p xmlns:a="http://schemas.openxmlformats.org/drawingml/2006/main">
            <a:r>
              <a:t>- https://www.ixl.com/math/skill-plans/big-ideas-math-2019-common-core-curriculum-6th-grade.pdf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the student to restate the takeaway. Praise a specific strategy or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Big Ideas Math: Modeling Real Life, Common Core 2019, Grade 6, Chapter 1.</a:t>
            </a:r>
          </a:p>
          <a:p xmlns:a="http://schemas.openxmlformats.org/drawingml/2006/main">
            <a:r>
              <a:t>- https://www.sau19.org/attachments/article/288/Big%20Ideas%20Math%206-Algebra%20Scope%20and%20Sequence.pdf</a:t>
            </a:r>
          </a:p>
          <a:p xmlns:a="http://schemas.openxmlformats.org/drawingml/2006/main">
            <a:r>
              <a:t>- https://www.ixl.com/math/skill-plans/big-ideas-math-2019-common-core-curriculum-6th-grade.pdf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49597ec21f4e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e09f7ae05a4aaf" /><Relationship Type="http://schemas.openxmlformats.org/officeDocument/2006/relationships/slideLayout" Target="/ppt/slideLayouts/slideLayout1.xml" Id="Ra997eb2c97fd4d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97eb2c97fd4d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a4a2cadb77493d" /><Relationship Type="http://schemas.openxmlformats.org/officeDocument/2006/relationships/notesSlide" Target="/ppt/notesSlides/notesSlide1.xml" Id="R397c375cbc764d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d96abbc3cc4c4e" /><Relationship Type="http://schemas.openxmlformats.org/officeDocument/2006/relationships/notesSlide" Target="/ppt/notesSlides/notesSlide2.xml" Id="R430f25ab0c1a42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e3eedad6644d50" /><Relationship Type="http://schemas.openxmlformats.org/officeDocument/2006/relationships/notesSlide" Target="/ppt/notesSlides/notesSlide3.xml" Id="R672e573785a743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62390b0af4240" /><Relationship Type="http://schemas.openxmlformats.org/officeDocument/2006/relationships/notesSlide" Target="/ppt/notesSlides/notesSlide4.xml" Id="Rced61cd2212f41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19c6dacfb34434" /><Relationship Type="http://schemas.openxmlformats.org/officeDocument/2006/relationships/notesSlide" Target="/ppt/notesSlides/notesSlide5.xml" Id="Re449d063669945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cedf1a4c2f4fd2" /><Relationship Type="http://schemas.openxmlformats.org/officeDocument/2006/relationships/notesSlide" Target="/ppt/notesSlides/notesSlide6.xml" Id="R3d13c527e26e42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990d14f8d144c6" /><Relationship Type="http://schemas.openxmlformats.org/officeDocument/2006/relationships/notesSlide" Target="/ppt/notesSlides/notesSlide7.xml" Id="R9fa2e851532e4b0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b3a10f8e094742" /><Relationship Type="http://schemas.openxmlformats.org/officeDocument/2006/relationships/notesSlide" Target="/ppt/notesSlides/notesSlide8.xml" Id="R27aa14f29f5a42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2f1122c69548d5" /><Relationship Type="http://schemas.openxmlformats.org/officeDocument/2006/relationships/notesSlide" Target="/ppt/notesSlides/notesSlide9.xml" Id="R2c5bb2380bca44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ADE4A8-4F34-44C0-823A-51C941E5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BIG IDEAS MATH • GRADE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C8AC80-DACC-4E5E-8C1A-0ED299EA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Chapter 1 • Section 1.3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88480E-36D3-48F7-A456-83884FDB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0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Prime Factorization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B51BD-F1E0-41F9-8386-8371AE14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816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Every composite number can be written as a product of prime factors.</a:t>
            </a:r>
          </a:p>
        </p:txBody>
      </p:sp>
    </p:spTree>
    <p:extLst>
      <p:ext uri="{BB962C8B-B14F-4D97-AF65-F5344CB8AC3E}">
        <p14:creationId xmlns:p14="http://schemas.microsoft.com/office/powerpoint/2010/main" val="17085785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0EFD62-504A-43F0-B527-EBE20764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What do you know about factors?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0F7061-992D-475F-89A2-A5FE236F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165690-715E-4281-AACC-A3EBF3BF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49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303319-DCC8-42C9-A39B-912DEC16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7162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   List the factor pairs of 12.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5B059F-0D05-4567-A746-DF3F58EC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11049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1C325-E16D-4481-9B37-E145B16E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   Is 13 prime or composite?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B1AE6E-7121-4872-8E49-DD09E549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71875"/>
            <a:ext cx="11049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3F7152-365D-4DE0-8459-DC219873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6237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   Write 18 as a multiplication expression.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F295CD-1037-406E-98BA-83D1FA4B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11049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450781-AC9E-41A4-9FF8-0B55E0E8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4   What does 2 × 3 × 3 equal?</a:t>
            </a:r>
          </a:p>
        </p:txBody>
      </p:sp>
    </p:spTree>
    <p:extLst>
      <p:ext uri="{BB962C8B-B14F-4D97-AF65-F5344CB8AC3E}">
        <p14:creationId xmlns:p14="http://schemas.microsoft.com/office/powerpoint/2010/main" val="6500741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D6D512-B875-484C-8341-FFEABB30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Prime numbers have exactly two factors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609586-0D14-41CF-96E7-923BD596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CC94D-4710-490F-9D2A-82432C5F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5143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D2F09D-3DE7-4B03-AE11-BFAB914C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71625"/>
            <a:ext cx="5143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1DD30B-0110-4117-8E0D-577A08B7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4DBFD3-4443-463A-8AA8-E43B20FE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57500"/>
            <a:ext cx="4476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2, 3, 5, 7, 11…</a:t>
            </a:r>
          </a:p>
          <a:p xmlns:a="http://schemas.openxmlformats.org/drawingml/2006/main">
            <a:pPr algn="ctr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Factors: 1 and itself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F59DD5-8223-4328-B299-CCDA320C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952625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COMPOSITE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E25110-C1C4-48D6-9975-99ECBE75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57500"/>
            <a:ext cx="4476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4, 6, 8, 9, 10…</a:t>
            </a:r>
          </a:p>
          <a:p xmlns:a="http://schemas.openxmlformats.org/drawingml/2006/main">
            <a:pPr algn="ctr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More than two factors</a:t>
            </a:r>
          </a:p>
        </p:txBody>
      </p:sp>
    </p:spTree>
    <p:extLst>
      <p:ext uri="{BB962C8B-B14F-4D97-AF65-F5344CB8AC3E}">
        <p14:creationId xmlns:p14="http://schemas.microsoft.com/office/powerpoint/2010/main" val="16934946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3546AF-BA66-4F3F-8EC9-5C6D9F5C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 factor tree ends with primes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DAF966-DEDC-4497-A9FA-3D9784C1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1000125" y="3381375"/>
            <a:ext cx="9906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3201A-185C-4C09-8D67-E18CF2FB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313" y="32861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C57AA2-B799-418C-AACB-BBC39D91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57375"/>
            <a:ext cx="2428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START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2FF5E-F3BE-4F72-811B-ED1E9795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F788A4-12DA-4334-8EB3-05C3D255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57625"/>
            <a:ext cx="2428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Choose any factor pair.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A0C89F-F3D8-4D9B-9A92-DBAE089B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861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94D2DD-87BA-42B2-95A2-F9224AB5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313" y="1857375"/>
            <a:ext cx="2428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SPLIT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C0006D-1541-48F7-9A4B-B8350D9D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313" y="2333625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6 ×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835146-CB4F-48E7-AC09-85C514FE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313" y="3857625"/>
            <a:ext cx="2428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Break composite factors again.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BD9E5A-0516-4BFD-AAC1-4A34497B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688" y="32861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307A62-8F18-4707-A6FB-6C1C5758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57375"/>
            <a:ext cx="2428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PRIMES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D3E13E-6595-4A8E-9490-08C4D303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33625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 × 3 × 2 × 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C0CFBE-6939-4930-8C8A-5F84B736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57625"/>
            <a:ext cx="2428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Stop only at primes.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A502E5-BF3E-415C-ABF6-3EE8A4A9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2861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E15F5E-7478-4546-A82A-2C5880F1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8688" y="1857375"/>
            <a:ext cx="2428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WRITE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969104-25E9-403B-9B92-F64FDF60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8688" y="2333625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2² × 3 × 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C56941-F0D7-4A10-BFFA-7F90D20E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8688" y="3857625"/>
            <a:ext cx="2428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Use exponents for repeats.</a:t>
            </a:r>
          </a:p>
        </p:txBody>
      </p:sp>
    </p:spTree>
    <p:extLst>
      <p:ext uri="{BB962C8B-B14F-4D97-AF65-F5344CB8AC3E}">
        <p14:creationId xmlns:p14="http://schemas.microsoft.com/office/powerpoint/2010/main" val="10221247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6207EE-BB20-4D54-8DEE-9D1C98B2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Find each prime factorization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828234-E573-4D9D-B85F-777724E1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036F03-B94C-4624-BC0B-68950CDC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533400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F01DC3-5653-4597-8BAC-348B068D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9547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   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2AB5C-2EC9-453B-AB0F-88123B3F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533400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2872B8-C915-40A0-947B-F228BF0D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9547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   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786E53-5D23-4EA8-A9E4-417B3032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533400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D62DA6-5FFC-4216-9DD7-3E1C53A3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8147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   45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CB5579-343E-446A-919C-0E09BC7B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57625"/>
            <a:ext cx="533400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FE6B1F-41E2-427D-8A7C-01E79C26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8147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   72</a:t>
            </a:r>
          </a:p>
        </p:txBody>
      </p:sp>
    </p:spTree>
    <p:extLst>
      <p:ext uri="{BB962C8B-B14F-4D97-AF65-F5344CB8AC3E}">
        <p14:creationId xmlns:p14="http://schemas.microsoft.com/office/powerpoint/2010/main" val="76819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1C3E45-E476-4811-B599-2E96067E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Error detective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39C55E-25D9-472F-BFAA-D679B8CF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AA1884-D4B3-4474-87D1-F91CD753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51435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C8FDD7-1496-4AB5-A7EB-9DDE198E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3837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7A5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12 = 3 × 4  ✓ done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A51825-6022-42E6-B6AA-81EB176B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195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What went wrong?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96E5A2-9BCD-41A3-9655-F26D4F25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66875"/>
            <a:ext cx="51435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B7074E-275D-4650-9051-274D7906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3837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7A5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30 = 2 × 3 × 5 ×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D5F91F-EAD1-498B-849F-D1C31245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6195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What went wrong?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EFFA1F-F906-4863-A5D3-B26CDC66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86375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Correct each answer and explain the fix.</a:t>
            </a:r>
          </a:p>
        </p:txBody>
      </p:sp>
    </p:spTree>
    <p:extLst>
      <p:ext uri="{BB962C8B-B14F-4D97-AF65-F5344CB8AC3E}">
        <p14:creationId xmlns:p14="http://schemas.microsoft.com/office/powerpoint/2010/main" val="6726490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C35E52-46AB-40BF-938A-DD7092D2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Quick challenge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A036E-7EA1-4BA4-99F3-F00AE605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CB3D81-444E-4E00-A3AA-60E5DCCB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381125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Which is the prime factorization of 84?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B0A272-1E85-4553-B628-2AF6391D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57500"/>
            <a:ext cx="233362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B3ACCB-2C5B-41DB-8682-6F35916E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194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 × 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C52D62-EC18-454B-85FA-C49F54BC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857500"/>
            <a:ext cx="233362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30D487-3201-4C9E-824B-F154CAFA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2194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 × 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D332F8-2FEB-41B3-8EF9-6D698E5F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57500"/>
            <a:ext cx="233362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566B2C-A86C-40C2-A3E4-9062E5FF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2194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2² × 3 × 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553A9A-9D55-42F1-8054-061847CE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857500"/>
            <a:ext cx="233362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1D39D7-30AC-451A-9BDF-942ED71A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2194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 × 3 × 14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A8682E-602E-4677-B111-4F4A6B80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435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</p:spTree>
    <p:extLst>
      <p:ext uri="{BB962C8B-B14F-4D97-AF65-F5344CB8AC3E}">
        <p14:creationId xmlns:p14="http://schemas.microsoft.com/office/powerpoint/2010/main" val="671826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E2B7B8-EABF-4D7F-B2EC-D3DF2958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Show what you know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AA4106-B76B-46D1-AC83-D5BF7EF3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6F2C0E-7974-4B89-97C6-0BB2C635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811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   Is 29 prime or composite?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809625" y="2047875"/>
            <a:ext cx="10572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3116E6-6EAB-41DA-B438-4DFD9B0C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479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   Find the prime factorization of 20.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809625" y="3114675"/>
            <a:ext cx="10572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9D175E-15B3-47E5-868C-81231D1B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147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   Find the prime factorization of 54.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809625" y="4181475"/>
            <a:ext cx="10572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D084DE-CD20-4A3A-B32F-F37C88A3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815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   Why must a factor tree end in primes?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809625" y="5248275"/>
            <a:ext cx="10572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5320089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3D8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BBEAC8-9536-41DC-A48B-9F61EDFA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10287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Keep splitting composite factors until every leaf is prime.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522C5B-FEEE-4EC6-BC68-35DCB7FE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95875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EAF5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5FF"/>
                </a:solidFill>
                <a:latin typeface="Arial"/>
                <a:ea typeface="Arial"/>
                <a:cs typeface="Arial"/>
              </a:rPr>
              <a:t>Next: use common prime factors to find the GCF</a:t>
            </a:r>
          </a:p>
        </p:txBody>
      </p:sp>
    </p:spTree>
    <p:extLst>
      <p:ext uri="{BB962C8B-B14F-4D97-AF65-F5344CB8AC3E}">
        <p14:creationId xmlns:p14="http://schemas.microsoft.com/office/powerpoint/2010/main" val="12782527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2026-08-13T05:21:08.5100000Z</dcterms:created>
  <dcterms:modified xsi:type="dcterms:W3CDTF">2026-08-13T05:21:08.5100000Z</dcterms:modified>
</coreProperties>
</file>