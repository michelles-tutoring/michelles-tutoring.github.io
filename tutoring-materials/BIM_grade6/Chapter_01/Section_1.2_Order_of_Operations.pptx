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27104712f44d03" /><Relationship Type="http://schemas.openxmlformats.org/officeDocument/2006/relationships/extended-properties" Target="/docProps/app.xml" Id="R26e0fe3a4b44427d" /><Relationship Type="http://schemas.openxmlformats.org/officeDocument/2006/relationships/officeDocument" Target="/ppt/presentation.xml" Id="R2035e4a0cf4342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9e61c7889e4387"/>
  </p:sldMasterIdLst>
  <p:notesMasterIdLst>
    <p:notesMasterId xmlns:r="http://schemas.openxmlformats.org/officeDocument/2006/relationships" r:id="Rd04ef2ca44a5402f"/>
  </p:notesMasterIdLst>
  <p:sldIdLst>
    <p:sldId xmlns:r="http://schemas.openxmlformats.org/officeDocument/2006/relationships" id="256" r:id="Rd685ecc53ae44a7f"/>
    <p:sldId xmlns:r="http://schemas.openxmlformats.org/officeDocument/2006/relationships" id="257" r:id="R3e3dda8162ab4957"/>
    <p:sldId xmlns:r="http://schemas.openxmlformats.org/officeDocument/2006/relationships" id="258" r:id="R827d1a1f236a4ebf"/>
    <p:sldId xmlns:r="http://schemas.openxmlformats.org/officeDocument/2006/relationships" id="259" r:id="R331fe42e894a4ffb"/>
    <p:sldId xmlns:r="http://schemas.openxmlformats.org/officeDocument/2006/relationships" id="260" r:id="R23faf03a8f0f4216"/>
    <p:sldId xmlns:r="http://schemas.openxmlformats.org/officeDocument/2006/relationships" id="261" r:id="R247af8ef89b0486d"/>
    <p:sldId xmlns:r="http://schemas.openxmlformats.org/officeDocument/2006/relationships" id="262" r:id="Rc6d3ca7a00f24763"/>
    <p:sldId xmlns:r="http://schemas.openxmlformats.org/officeDocument/2006/relationships" id="263" r:id="R68db736afd59494b"/>
    <p:sldId xmlns:r="http://schemas.openxmlformats.org/officeDocument/2006/relationships" id="264" r:id="R711bcb0ac13049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1e33a1753140a7" /><Relationship Type="http://schemas.openxmlformats.org/officeDocument/2006/relationships/slideMaster" Target="/ppt/slideMasters/slideMaster1.xml" Id="R359e61c7889e4387" /><Relationship Type="http://schemas.openxmlformats.org/officeDocument/2006/relationships/notesMaster" Target="/ppt/notesMasters/notesMaster1.xml" Id="Rd04ef2ca44a5402f" /><Relationship Type="http://schemas.openxmlformats.org/officeDocument/2006/relationships/presProps" Target="/ppt/presProps.xml" Id="Rd3a608065d6344b3" /><Relationship Type="http://schemas.openxmlformats.org/officeDocument/2006/relationships/tableStyles" Target="/ppt/tableStyles.xml" Id="R243404d9b78941ed" /><Relationship Type="http://schemas.openxmlformats.org/officeDocument/2006/relationships/slide" Target="/ppt/slides/slide1.xml" Id="Rd685ecc53ae44a7f" /><Relationship Type="http://schemas.openxmlformats.org/officeDocument/2006/relationships/slide" Target="/ppt/slides/slide2.xml" Id="R3e3dda8162ab4957" /><Relationship Type="http://schemas.openxmlformats.org/officeDocument/2006/relationships/slide" Target="/ppt/slides/slide3.xml" Id="R827d1a1f236a4ebf" /><Relationship Type="http://schemas.openxmlformats.org/officeDocument/2006/relationships/slide" Target="/ppt/slides/slide4.xml" Id="R331fe42e894a4ffb" /><Relationship Type="http://schemas.openxmlformats.org/officeDocument/2006/relationships/slide" Target="/ppt/slides/slide5.xml" Id="R23faf03a8f0f4216" /><Relationship Type="http://schemas.openxmlformats.org/officeDocument/2006/relationships/slide" Target="/ppt/slides/slide6.xml" Id="R247af8ef89b0486d" /><Relationship Type="http://schemas.openxmlformats.org/officeDocument/2006/relationships/slide" Target="/ppt/slides/slide7.xml" Id="Rc6d3ca7a00f24763" /><Relationship Type="http://schemas.openxmlformats.org/officeDocument/2006/relationships/slide" Target="/ppt/slides/slide8.xml" Id="R68db736afd59494b" /><Relationship Type="http://schemas.openxmlformats.org/officeDocument/2006/relationships/slide" Target="/ppt/slides/slide9.xml" Id="R711bcb0ac13049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41972e94b84b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4a76d24cd8418f" /><Relationship Type="http://schemas.openxmlformats.org/officeDocument/2006/relationships/notesMaster" Target="/ppt/notesMasters/notesMaster1.xml" Id="R32d9832f911341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eb8159603c46af" /><Relationship Type="http://schemas.openxmlformats.org/officeDocument/2006/relationships/notesMaster" Target="/ppt/notesMasters/notesMaster1.xml" Id="R6e197e64223640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0366370d444312" /><Relationship Type="http://schemas.openxmlformats.org/officeDocument/2006/relationships/notesMaster" Target="/ppt/notesMasters/notesMaster1.xml" Id="R172a39a5573d45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c74a85c373419a" /><Relationship Type="http://schemas.openxmlformats.org/officeDocument/2006/relationships/notesMaster" Target="/ppt/notesMasters/notesMaster1.xml" Id="R8eae7ff426fe4f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00c6b243cf4f9b" /><Relationship Type="http://schemas.openxmlformats.org/officeDocument/2006/relationships/notesMaster" Target="/ppt/notesMasters/notesMaster1.xml" Id="R9aa828b7abc24e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72d7b3ada74f7d" /><Relationship Type="http://schemas.openxmlformats.org/officeDocument/2006/relationships/notesMaster" Target="/ppt/notesMasters/notesMaster1.xml" Id="Rb0087a5d59dc4f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612d62dc4f4aa7" /><Relationship Type="http://schemas.openxmlformats.org/officeDocument/2006/relationships/notesMaster" Target="/ppt/notesMasters/notesMaster1.xml" Id="R624ee9b9bbea44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b0e168587c4b8b" /><Relationship Type="http://schemas.openxmlformats.org/officeDocument/2006/relationships/notesMaster" Target="/ppt/notesMasters/notesMaster1.xml" Id="R67915278ecc949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5693534300429d" /><Relationship Type="http://schemas.openxmlformats.org/officeDocument/2006/relationships/notesMaster" Target="/ppt/notesMasters/notesMaster1.xml" Id="Rf33bd95c0f0f4d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goal and ask what the student already remembers about this topic.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low-pressure diagnostic. Do not teach first; note vocabulary, fluency, and strategy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student to compare the two sides and explain the important distinction in her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first step, then have the student narrate the remaining steps. Emphasize reasoning over memorizing a phrase.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A 17; B 17; C 12 (left to right); D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corrections: 17; and 12 because multiplication and division are completed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any mathematically valid reasoning. Ask a follow-up question if the student gives only an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5 minutes independently. Answers: 19; 33; 14; they have equal priority, so use their left-to-right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student to restate the takeaway. Praise a specific strategy or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0b670b8854d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4437e03f044621" /><Relationship Type="http://schemas.openxmlformats.org/officeDocument/2006/relationships/slideLayout" Target="/ppt/slideLayouts/slideLayout1.xml" Id="R16d283af988845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d283af988845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f58104c624b29" /><Relationship Type="http://schemas.openxmlformats.org/officeDocument/2006/relationships/notesSlide" Target="/ppt/notesSlides/notesSlide1.xml" Id="Readd7e43816e40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204fcf0824772" /><Relationship Type="http://schemas.openxmlformats.org/officeDocument/2006/relationships/notesSlide" Target="/ppt/notesSlides/notesSlide2.xml" Id="R9a47d2ad309248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97cd0925a43a1" /><Relationship Type="http://schemas.openxmlformats.org/officeDocument/2006/relationships/notesSlide" Target="/ppt/notesSlides/notesSlide3.xml" Id="R7be1ea4a0f524a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4f2002fdf4d08" /><Relationship Type="http://schemas.openxmlformats.org/officeDocument/2006/relationships/notesSlide" Target="/ppt/notesSlides/notesSlide4.xml" Id="Rb5f4de3dd8f044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dbb71b8914260" /><Relationship Type="http://schemas.openxmlformats.org/officeDocument/2006/relationships/notesSlide" Target="/ppt/notesSlides/notesSlide5.xml" Id="Rce9137566a354d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5253107e14a7b" /><Relationship Type="http://schemas.openxmlformats.org/officeDocument/2006/relationships/notesSlide" Target="/ppt/notesSlides/notesSlide6.xml" Id="Re87bae313e3c4f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9a54a94ba4975" /><Relationship Type="http://schemas.openxmlformats.org/officeDocument/2006/relationships/notesSlide" Target="/ppt/notesSlides/notesSlide7.xml" Id="Rd68e0103eda748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fb5b4d9b94708" /><Relationship Type="http://schemas.openxmlformats.org/officeDocument/2006/relationships/notesSlide" Target="/ppt/notesSlides/notesSlide8.xml" Id="R30a21da50a6a40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b4a6f572e41fd" /><Relationship Type="http://schemas.openxmlformats.org/officeDocument/2006/relationships/notesSlide" Target="/ppt/notesSlides/notesSlide9.xml" Id="Ra63863417a5547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FA14F-49F2-4431-8263-DBD3E797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BIG IDEAS MATH • GRADE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F4BBD-C542-497E-930B-B89D2ADA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Chapter 1 • Section 1.2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E7B4D-C348-4956-805A-EC1C69CB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Order of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F26B7-4FC8-4DC6-836D-BF72FA37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81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Grouping symbols first. Then exponents. Work left to right within each level.</a:t>
            </a:r>
          </a:p>
        </p:txBody>
      </p:sp>
    </p:spTree>
    <p:extLst>
      <p:ext uri="{BB962C8B-B14F-4D97-AF65-F5344CB8AC3E}">
        <p14:creationId xmlns:p14="http://schemas.microsoft.com/office/powerpoint/2010/main" val="1136762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FD9F2-7515-426B-AEE6-56C07E9A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order would you choose?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AF4C1-466D-465E-9BF4-AC2F9484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FAB87-9298-4D5E-8EA8-CE0EC3E5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274D9-92DB-4AE1-AD7F-5C18C9C3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   8 + 3 ×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C4632-9029-4B61-BAF9-7F97F336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44CD8-11C7-477D-8DF2-FAD093FB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   (8 + 3) ×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BBA37-315F-48A0-A663-7DA673BA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CA27C-881A-4238-9F21-87ABC35D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   2³ + 6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A59C1-6CAC-4D91-B361-2942BCA3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F1BC2-A341-4254-8C86-9F6426F6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   18 ÷ 3 × 2</a:t>
            </a:r>
          </a:p>
        </p:txBody>
      </p:sp>
    </p:spTree>
    <p:extLst>
      <p:ext uri="{BB962C8B-B14F-4D97-AF65-F5344CB8AC3E}">
        <p14:creationId xmlns:p14="http://schemas.microsoft.com/office/powerpoint/2010/main" val="993192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9A494-59FB-41D2-9ADC-AE961E12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Changing the order changes the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18C13-6B0D-4061-B462-93491820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89561-BE62-4E16-991B-A67298FF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4F362-E5F3-462E-A55C-B0396DC4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22999-B7B1-4E69-B59E-A579478A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 + 3 ×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D99B5-0825-49FB-9B29-6B961DFD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Multiply first</a:t>
            </a:r>
          </a:p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 + 12 =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48761-1EE7-42D1-8B58-11557735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(8 + 3) ×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8E4E-F976-47A5-B1EC-D73C0FB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57500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Group first</a:t>
            </a:r>
          </a:p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11 × 4 = 44</a:t>
            </a:r>
          </a:p>
        </p:txBody>
      </p:sp>
    </p:spTree>
    <p:extLst>
      <p:ext uri="{BB962C8B-B14F-4D97-AF65-F5344CB8AC3E}">
        <p14:creationId xmlns:p14="http://schemas.microsoft.com/office/powerpoint/2010/main" val="1707140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7A19B3-6B42-4DC9-98A1-DE283757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the standard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D6CD1-2630-4DA1-B139-3AE98E5F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000125" y="338137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5AFC1-2F1B-4B49-B8B5-3D7D84F4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BD11A-6AE3-4045-B4AF-28DA89AB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GROUP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BE3C4-6836-4163-B7FA-826BD7EA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(   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07AC7-567E-4017-9184-C0EE758C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Work inside grouping symbols.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816F6-3643-4A22-8817-575BD085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A44DD-B9A2-4162-8CC4-1B65DB04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EXPONENTS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DB33B-1A4E-4440-B52C-7857A620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7B17F-C254-4B9A-BC81-5B96AC2D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Evaluate powers.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47655-FC7B-40DC-A32F-579F985E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0D0C0-F134-4AF9-B037-A3016822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× and 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B5903-5A3E-45C2-9E82-69F49FB6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left → right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DC412-FB9A-4C1E-924F-94DDEA3B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Same level of priority.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F43A4-607D-450A-B813-80EF1B31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1FD92-D195-4C75-AD5F-9E2FB8AE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 and 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00A8A-F6A3-4DE3-89A5-93C93B52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left → right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25EF6-649C-47BE-9697-EAAD0F8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Same level of priority.</a:t>
            </a:r>
          </a:p>
        </p:txBody>
      </p:sp>
    </p:spTree>
    <p:extLst>
      <p:ext uri="{BB962C8B-B14F-4D97-AF65-F5344CB8AC3E}">
        <p14:creationId xmlns:p14="http://schemas.microsoft.com/office/powerpoint/2010/main" val="10387975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E9F99-85FC-41DA-A0C1-B9E04B7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Evaluate one step at a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844C2-3951-4D28-A157-0933B40D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52A56-04D6-4892-9176-BBE19F6C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ADE37-538B-46C6-B389-C3EF18A5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  5 + 2 ×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478DD-C406-4F6E-BD17-7098DA0F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DB977-0E8B-4EAD-96C2-1453073D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95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   3² + 4 ×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669F8-EC99-477A-918F-6F5694EA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09571-1AEC-4973-8828-A0A391CB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   24 ÷ 6 ×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D6708-9A18-4582-A812-2DA3FB84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E7AA4-ADE7-405E-A91C-0A342AF8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81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   20 − (8 + 4) ÷ 3</a:t>
            </a:r>
          </a:p>
        </p:txBody>
      </p:sp>
    </p:spTree>
    <p:extLst>
      <p:ext uri="{BB962C8B-B14F-4D97-AF65-F5344CB8AC3E}">
        <p14:creationId xmlns:p14="http://schemas.microsoft.com/office/powerpoint/2010/main" val="1576314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5EECB-D946-46BB-B07F-FD0DB677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Error detective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4CA9E-CB1A-40AF-BFD3-2050A072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0C71D-C3AA-4743-B951-E351FB85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143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4EBFF-2D9D-49A4-BF35-FA992886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5 + 2 × 6 = 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BFCB5-61AB-45AC-ADD0-69483E5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went wrong?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7F5E2-A1EE-4371-BBD8-688A6DC4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5143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E6AFB-257F-4EB2-A753-5F93D1E5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3837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24 ÷ 6 × 3 = 24 ÷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30A82-53B6-4445-883F-995A770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19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went wrong?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19A63-9E24-47C7-9C03-1D5AFBD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8637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Correct each answer and explain the fix.</a:t>
            </a:r>
          </a:p>
        </p:txBody>
      </p:sp>
    </p:spTree>
    <p:extLst>
      <p:ext uri="{BB962C8B-B14F-4D97-AF65-F5344CB8AC3E}">
        <p14:creationId xmlns:p14="http://schemas.microsoft.com/office/powerpoint/2010/main" val="1228755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ABC73-FF7D-4FCE-B0CD-55C10715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Quick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007B4-3283-4595-A8B1-B4D666C3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322CE-B14F-43C5-9094-82252C76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81125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Where could parentheses make 4 + 2 × 5 equal 30?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E8190-C116-4C87-A0CE-C5442D05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552B2-52BE-4FD4-92E5-0815B275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(4 + 2) ×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10CC9-AC65-4B3D-A431-92223228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1A677-4FF9-4BB9-B6B6-8E822CEC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 + (2 × 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32E94-2B9E-4573-898D-5DFBFEFB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6EBA9-06CE-49B7-9242-74E70287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(4 + 2 × 5)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70223-AC3F-4A0A-9F23-785C4385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C8334-3672-4B77-990A-7C0FB913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 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D4EC8-7F6F-4A3C-B03D-DC524E64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43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</p:spTree>
    <p:extLst>
      <p:ext uri="{BB962C8B-B14F-4D97-AF65-F5344CB8AC3E}">
        <p14:creationId xmlns:p14="http://schemas.microsoft.com/office/powerpoint/2010/main" val="1781405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7A453-D1DA-478A-9674-98D43B9E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FA666-D1C1-4460-91BF-B58B998C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F8CEA-F4F8-4BB0-8376-AF561D5C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   Evaluate: 7 + 4 × 3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809625" y="20478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54086-86FE-4B49-A137-FCE432BB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   Evaluate: (7 + 4) × 3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809625" y="31146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0D7FC-7EE1-4C14-8808-D793517F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147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   Evaluate: 2⁴ − 6 ÷ 3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809625" y="41814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9B5E0-5299-41E8-AC27-49367BEB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815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   Why do × and ÷ go left to right?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809625" y="52482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563410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3D8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5488D-4695-4FB7-9959-CC539E0B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287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Group. Exponents. Multiply or divide. Add or subtract.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8F1B8-E1C0-4505-A435-82B2E190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5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F"/>
                </a:solidFill>
                <a:latin typeface="Arial"/>
                <a:ea typeface="Arial"/>
                <a:cs typeface="Arial"/>
              </a:rPr>
              <a:t>Next: break composite numbers into prime factors</a:t>
            </a:r>
          </a:p>
        </p:txBody>
      </p:sp>
    </p:spTree>
    <p:extLst>
      <p:ext uri="{BB962C8B-B14F-4D97-AF65-F5344CB8AC3E}">
        <p14:creationId xmlns:p14="http://schemas.microsoft.com/office/powerpoint/2010/main" val="1314554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2026-08-13T05:21:07.4880000Z</dcterms:created>
  <dcterms:modified xsi:type="dcterms:W3CDTF">2026-08-13T05:21:07.4880000Z</dcterms:modified>
</coreProperties>
</file>